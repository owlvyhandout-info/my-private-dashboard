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0F7B8C">
              <a:alpha val="25000"/>
            </a:srgbClr>
          </a:solidFill>
          <a:ln w="12700">
            <a:solidFill>
              <a:srgbClr val="0F7B8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C0395A">
              <a:alpha val="25000"/>
            </a:srgbClr>
          </a:solidFill>
          <a:ln w="12700">
            <a:solidFill>
              <a:srgbClr val="C0395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097280" cy="1097280"/>
          </a:xfrm>
          <a:prstGeom prst="ellipse">
            <a:avLst/>
          </a:prstGeom>
          <a:solidFill>
            <a:srgbClr val="E8A838">
              <a:alpha val="30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วิทยาศาสตร์ชีววิทยา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ระบบสืบพันธุ์เพศหญิง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Reproductive System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ครอบคลุม: </a:t>
            </a:r>
            <a:pPr indent="0" marL="0">
              <a:buNone/>
            </a:pPr>
            <a:r>
              <a:rPr lang="en-US" sz="130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วงจรฮอร์โมน • การตกไข่ • การปฏิสนธิ • พัฒนาการตัวอ่อน • ยาคุมกำเนิด • ภาวะผิดปกติ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19050">
            <a:solidFill>
              <a:srgbClr val="0F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0"/>
                </a:solidFill>
              </a:rPr>
              <a:t>คู่มือเนื้อหาระบบสืบพันธุ์ฉบับสมบูรณ์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🧠  ผู้กำกับระบบสืบพันธุ์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1D8E0"/>
                </a:solidFill>
              </a:rPr>
              <a:t>Hypothalamus &amp; Pituitary Gland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ไฮโปทาลามัส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Hypothalamus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หลั่ง GnRH กระตุ้น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ต่อมใต้สมองให้ทำงาน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35808" y="2560320"/>
            <a:ext cx="777240" cy="0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9144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ต่อมใต้สมอง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Pituitary Gland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37744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468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หลั่ง FSH และ LH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ไปกระตุ้นรังไข่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61888" y="2560320"/>
            <a:ext cx="777240" cy="0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83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9144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รังไข่ &amp; มดลูก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DDDD"/>
                </a:solidFill>
              </a:rPr>
              <a:t>Ovaries &amp; Uterus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37744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468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ตอบสนองต่อฮอร์โมน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เกิดการเปลี่ยนแปลง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8C"/>
                </a:solidFill>
              </a:rPr>
              <a:t>หลักการ Feedback: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ฮอร์โมนจากรังไข่ (เอสโตรเจน/โปรเจสเตอโรน) ส่งสัญญาณย้อนกลับควบคุมการทำงานของสมอง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📅  รอบเดือนและการคำนวณวันตกไข่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CC"/>
                </a:solidFill>
              </a:rPr>
              <a:t>Menstrual Cycle &amp; Ovulation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1280160" cy="502920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8988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ระยะมีประจำเดือน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(วันที่ 1–5)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7048" y="822960"/>
            <a:ext cx="2194560" cy="502920"/>
          </a:xfrm>
          <a:prstGeom prst="rect">
            <a:avLst/>
          </a:prstGeom>
          <a:solidFill>
            <a:srgbClr val="E07A90"/>
          </a:solidFill>
          <a:ln w="12700">
            <a:solidFill>
              <a:srgbClr val="E07A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138988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ระยะฟอลลิเคิล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(วันที่ 6–13)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39896" y="822960"/>
            <a:ext cx="100584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38988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การตกไข่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(วันที่ 14)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64024" y="822960"/>
            <a:ext cx="2560320" cy="502920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3898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ระยะลูเทียล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(วันที่ 15–28)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42632" y="822960"/>
            <a:ext cx="1645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632" y="13898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ประจำเดือน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6"/>
                </a:solidFill>
              </a:rPr>
              <a:t>รอบถัดไป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3931920" cy="2423160"/>
          </a:xfrm>
          <a:prstGeom prst="roundRect">
            <a:avLst>
              <a:gd name="adj" fmla="val 3774"/>
            </a:avLst>
          </a:prstGeom>
          <a:solidFill>
            <a:srgbClr val="F2D7DE"/>
          </a:solidFill>
          <a:ln w="12700">
            <a:solidFill>
              <a:srgbClr val="C039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5A"/>
                </a:solidFill>
              </a:rPr>
              <a:t>⚡ ตัวกระตุ้นการตกไข่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542032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LH Surge</a:t>
            </a:r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— LH พุ่งสูงรวดเร็ว กระตุ้นให้ฟอลลิเคิลแตก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เซลล์เม็ดเลือดขาว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— หลั่งเอนไซม์ย่อยผนังถุงไข่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7B8C"/>
                </a:solidFill>
              </a:rPr>
              <a:t>Corpus Luteum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— กลายเป็นต่อมหลั่งโปรเจสเตอโรน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8C"/>
                </a:solidFill>
              </a:rPr>
              <a:t>🧮 สูตรคำนวณวันตกไข่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2743200"/>
            <a:ext cx="3566160" cy="594360"/>
          </a:xfrm>
          <a:prstGeom prst="roundRect">
            <a:avLst>
              <a:gd name="adj" fmla="val 10769"/>
            </a:avLst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43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วันตกไข่ = ประจำเดือนครั้งถัดไป − 14 วัน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ตัวอย่าง: </a:t>
            </a:r>
            <a:pPr indent="0" marL="0">
              <a:buNone/>
            </a:pPr>
            <a:r>
              <a:rPr lang="en-US" sz="1250" dirty="0">
                <a:solidFill>
                  <a:srgbClr val="5A6476"/>
                </a:solidFill>
              </a:rPr>
              <a:t>รอบเดือน 35 วัน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6"/>
                </a:solidFill>
              </a:rPr>
              <a:t>ประจำเดือนรอบถัดไปมาวันที่ 36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6"/>
                </a:solidFill>
              </a:rPr>
              <a:t>นับย้อนไป 14 วัน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6"/>
                </a:solidFill>
              </a:rPr>
              <a:t>→ ไข่ตกวันที่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5A"/>
                </a:solidFill>
              </a:rPr>
              <a:t>22 ของรอบเดือน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800600"/>
            <a:ext cx="8412480" cy="201168"/>
          </a:xfrm>
          <a:prstGeom prst="roundRect">
            <a:avLst>
              <a:gd name="adj" fmla="val 18182"/>
            </a:avLst>
          </a:prstGeom>
          <a:solidFill>
            <a:srgbClr val="F2D7DE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5A"/>
                </a:solidFill>
              </a:rPr>
              <a:t>ช่วงสภาพแวดล้อมเอื้อต่อการปฏิสนธิ: อสุจิมีชีวิต 3–5 วัน | เซลล์ไข่มีอายุเพียง 12–24 ชั่วโมง | มูกปากมดลูกใส ลื่น ยืดหยุ่นสูงในวันตกไข่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🔬  พัฒนาการตัวอ่อน (Embryogenesis)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822960"/>
            <a:ext cx="685800" cy="685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08760" y="1156716"/>
            <a:ext cx="457200" cy="0"/>
          </a:xfrm>
          <a:prstGeom prst="line">
            <a:avLst/>
          </a:prstGeom>
          <a:noFill/>
          <a:ln w="25400">
            <a:solidFill>
              <a:srgbClr val="D1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45920"/>
            <a:ext cx="1572768" cy="30632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645920"/>
            <a:ext cx="157276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45920"/>
            <a:ext cx="15727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ปฏิสนธิ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20299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6"/>
                </a:solidFill>
              </a:rPr>
              <a:t>Fertilization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70432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774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📍 </a:t>
            </a:r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ท่อนำไข่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อสุจิเจาะผ่าน Cumulus cells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และ Zona pellucida ของไข่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822960"/>
            <a:ext cx="685800" cy="685800"/>
          </a:xfrm>
          <a:prstGeom prst="ellipse">
            <a:avLst/>
          </a:prstGeom>
          <a:solidFill>
            <a:srgbClr val="1A5C6E"/>
          </a:solidFill>
          <a:ln w="12700">
            <a:solidFill>
              <a:srgbClr val="1A5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1156716"/>
            <a:ext cx="457200" cy="0"/>
          </a:xfrm>
          <a:prstGeom prst="line">
            <a:avLst/>
          </a:prstGeom>
          <a:noFill/>
          <a:ln w="25400">
            <a:solidFill>
              <a:srgbClr val="D1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1645920"/>
            <a:ext cx="1572768" cy="30632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84832" y="1645920"/>
            <a:ext cx="1572768" cy="347472"/>
          </a:xfrm>
          <a:prstGeom prst="rect">
            <a:avLst/>
          </a:prstGeom>
          <a:solidFill>
            <a:srgbClr val="1A5C6E"/>
          </a:solidFill>
          <a:ln w="12700">
            <a:solidFill>
              <a:srgbClr val="1A5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645920"/>
            <a:ext cx="15727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ไซโกต → คลีเวจ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84832" y="20299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6"/>
                </a:solidFill>
              </a:rPr>
              <a:t>Zygote → Cleavage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2331720"/>
            <a:ext cx="1170432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23774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📍 </a:t>
            </a:r>
            <a:pPr algn="ctr" indent="0" marL="0">
              <a:buNone/>
            </a:pPr>
            <a:r>
              <a:rPr lang="en-US" sz="950" b="1" dirty="0">
                <a:solidFill>
                  <a:srgbClr val="1A5C6E"/>
                </a:solidFill>
              </a:rPr>
              <a:t>ท่อนำไข่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48840" y="269748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แบ่งเซลล์เร็วโดยไม่เพิ่มขนาด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เซลล์เล็กลงเรื่อยๆ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822960"/>
            <a:ext cx="685800" cy="68580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83480" y="1156716"/>
            <a:ext cx="457200" cy="0"/>
          </a:xfrm>
          <a:prstGeom prst="line">
            <a:avLst/>
          </a:prstGeom>
          <a:noFill/>
          <a:ln w="25400">
            <a:solidFill>
              <a:srgbClr val="D1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22192" y="1645920"/>
            <a:ext cx="1572768" cy="30632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22192" y="1645920"/>
            <a:ext cx="1572768" cy="347472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645920"/>
            <a:ext cx="15727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มอรูลา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22192" y="20299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6"/>
                </a:solidFill>
              </a:rPr>
              <a:t>Morula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0" y="2331720"/>
            <a:ext cx="1170432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23774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📍 </a:t>
            </a:r>
            <a:pPr algn="ctr" indent="0" marL="0">
              <a:buNone/>
            </a:pPr>
            <a:r>
              <a:rPr lang="en-US" sz="950" b="1" dirty="0">
                <a:solidFill>
                  <a:srgbClr val="0F7B8C"/>
                </a:solidFill>
              </a:rPr>
              <a:t>ท่อนำไข่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86200" y="269748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กลุ่มเซลล์อัดแน่นเป็นก้อนตัน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คล้ายผลน้อยหน่า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822960"/>
            <a:ext cx="685800" cy="685800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720840" y="1156716"/>
            <a:ext cx="457200" cy="0"/>
          </a:xfrm>
          <a:prstGeom prst="line">
            <a:avLst/>
          </a:prstGeom>
          <a:noFill/>
          <a:ln w="25400">
            <a:solidFill>
              <a:srgbClr val="D1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59552" y="1645920"/>
            <a:ext cx="1572768" cy="30632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59552" y="1645920"/>
            <a:ext cx="1572768" cy="347472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1645920"/>
            <a:ext cx="15727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บลาสโตซิสต์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59552" y="20299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6"/>
                </a:solidFill>
              </a:rPr>
              <a:t>Blastocyst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60720" y="2331720"/>
            <a:ext cx="1170432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3774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📍 </a:t>
            </a:r>
            <a:pPr algn="ctr" indent="0" marL="0">
              <a:buNone/>
            </a:pPr>
            <a:r>
              <a:rPr lang="en-US" sz="950" b="1" dirty="0">
                <a:solidFill>
                  <a:srgbClr val="C0395A"/>
                </a:solidFill>
              </a:rPr>
              <a:t>มดลูก (วันที่ 6–7)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3560" y="269748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มีช่องว่างบรรจุของเหลว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พร้อมฝังตัวในมดลูก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26680" y="822960"/>
            <a:ext cx="685800" cy="685800"/>
          </a:xfrm>
          <a:prstGeom prst="ellipse">
            <a:avLst/>
          </a:prstGeom>
          <a:solidFill>
            <a:srgbClr val="8B1A34"/>
          </a:solidFill>
          <a:ln w="12700">
            <a:solidFill>
              <a:srgbClr val="8B1A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822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⑤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296912" y="1645920"/>
            <a:ext cx="1572768" cy="306324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1D8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1645920"/>
            <a:ext cx="1572768" cy="347472"/>
          </a:xfrm>
          <a:prstGeom prst="rect">
            <a:avLst/>
          </a:prstGeom>
          <a:solidFill>
            <a:srgbClr val="8B1A34"/>
          </a:solidFill>
          <a:ln w="12700">
            <a:solidFill>
              <a:srgbClr val="8B1A3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1645920"/>
            <a:ext cx="15727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การฝังตัว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296912" y="20299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6"/>
                </a:solidFill>
              </a:rPr>
              <a:t>Implantation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98080" y="2331720"/>
            <a:ext cx="1170432" cy="0"/>
          </a:xfrm>
          <a:prstGeom prst="line">
            <a:avLst/>
          </a:prstGeom>
          <a:noFill/>
          <a:ln w="12700">
            <a:solidFill>
              <a:srgbClr val="D1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23774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📍 </a:t>
            </a:r>
            <a:pPr algn="ctr" indent="0" marL="0">
              <a:buNone/>
            </a:pPr>
            <a:r>
              <a:rPr lang="en-US" sz="950" b="1" dirty="0">
                <a:solidFill>
                  <a:srgbClr val="8B1A34"/>
                </a:solidFill>
              </a:rPr>
              <a:t>ผนังมดลูก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60920" y="269748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Trophoblast เจาะเยื่อบุมดลูก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→ เริ่มต้นการตั้งครรภ์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75488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C"/>
                </a:solidFill>
              </a:rPr>
              <a:t>💡 การตั้งครรภ์ทางการแพทย์เริ่มต้นเมื่อบลาสโตซิสต์ฝังตัวที่ผนังมดลูก — ไม่ใช่วินาทีที่ปฏิสนธิ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🔄  ฮอร์โมน HCG และจุดจบของรอบเดือน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8C"/>
                </a:solidFill>
              </a:rPr>
              <a:t>✅  เมื่อมีการตั้งครรภ์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347472" cy="347472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บลาสโตซิสต์ฝังตัว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609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ที่ผนังมดลูก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หลั่ง HCG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6"/>
                </a:solidFill>
              </a:rPr>
              <a:t>(Human Chorionic Gonadotropin)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347472" cy="347472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633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HCG กระตุ้น Corpus Luteum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28895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ให้สร้างโปรเจสเตอโรนต่อไป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19272"/>
            <a:ext cx="347472" cy="347472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รักษาเยื่อบุมดลูก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→ ไม่มีประจำเดือน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347472" cy="347472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913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Trophoblast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4169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เจริญเป็น 'รก' (Placenta)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82296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F2D7DE"/>
          </a:solidFill>
          <a:ln w="12700">
            <a:solidFill>
              <a:srgbClr val="C039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5A"/>
                </a:solidFill>
              </a:rPr>
              <a:t>❌  เมื่อไม่มีการตั้งครรภ์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83480" y="1399032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Corpus Luteum สลายตัว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3480" y="2039112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1993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โปรเจสเตอโรนลดลงอย่างรวดเร็ว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83480" y="2679192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2633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ส่งสัญญาณให้เยื่อบุมดลูกลอก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83480" y="3319272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เกิดประจำเดือน (Menstruation)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4068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เยื่อบุ + หลอดเลือดฉีกขาด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83480" y="3959352"/>
            <a:ext cx="347472" cy="347472"/>
          </a:xfrm>
          <a:prstGeom prst="ellipse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913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</a:rPr>
              <a:t>รอบเดือนใหม่เริ่มต้น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40680" y="4169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6"/>
                </a:solidFill>
              </a:rPr>
              <a:t>→ FSH เพิ่มขึ้น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4754880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FFF3CD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B00"/>
                </a:solidFill>
              </a:rPr>
              <a:t>💡 HCG คือฮอร์โมนที่ตรวจพบในการทดสอบการตั้งครรภ์ — ระดับสูงขึ้นอย่างรวดเร็วหลังฝังตัว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060"/>
          </a:solidFill>
          <a:ln w="12700">
            <a:solidFill>
              <a:srgbClr val="4A1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💊  ยาคุมกำเนิด &amp; ภาวะผิดปกติ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7B2D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7B2DA0"/>
          </a:solidFill>
          <a:ln w="12700">
            <a:solidFill>
              <a:srgbClr val="7B2D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ยาคุมกำเนิดแบบฮอร์โมนรวม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A80"/>
                </a:solidFill>
              </a:rPr>
              <a:t>▸ ยับยั้ง FSH และ LH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 → รังไข่ไม่ตกไข่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A80"/>
                </a:solidFill>
              </a:rPr>
              <a:t>▸ ทำให้มูกปากมดลูกข้น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 → อสุจิผ่านได้ยาก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A80"/>
                </a:solidFill>
              </a:rPr>
              <a:t>▸ เยื่อบุมดลูกบางลง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 → ตัวอ่อนฝังตัวได้ยาก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21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A80"/>
                </a:solidFill>
              </a:rPr>
              <a:t>▸ ฮอร์โมนในยา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6"/>
                </a:solidFill>
              </a:rPr>
              <a:t>  เอสโตรเจน + โปรเจสติน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039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C0395A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ภาวะผิดปกติที่สำคัญ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2D7DE"/>
          </a:solidFill>
          <a:ln w="12700">
            <a:solidFill>
              <a:srgbClr val="C039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4630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5A"/>
                </a:solidFill>
              </a:rPr>
              <a:t>⚠️ ท้องนอกมดลูก (Ectopic Pregnancy)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ตัวอ่อนฝังในท่อนำไข่ (ผิดที่)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ท่อไม่รองรับการโตของตัวอ่อน → แตก → ตกเลือด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อันตรายถึงชีวิตหากไม่รักษา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83480" y="30175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632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B8C"/>
                </a:solidFill>
              </a:rPr>
              <a:t>🌸 วัยทอง (Menopause)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3429000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รังไข่หมดจำนวนฟอลลิเคิล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→ ไม่สร้างฮอร์โมนได้อีก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→ หมดประจำเดือนถาวร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6"/>
                </a:solidFill>
              </a:rPr>
              <a:t>มักเกิดช่วงอายุ 45–55 ปี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E0F4F5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C"/>
                </a:solidFill>
              </a:rPr>
              <a:t>💡 ยาคุมฉุกเฉิน (แผน B) ทำงานหลักโดยยับยั้งการตกไข่ ไม่ใช่การทำลายตัวอ่อนที่ฝังตัวแล้ว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📖  คำศัพท์สำคัญ (Key Vocabulary)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Menstruation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ประจำเดือน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เยื่อบุมดลูกลอกหลุด เนื่องจากโปรเจสเตอโรนต่ำ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96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Corpus Luteum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คอร์ปัสลูเทียม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904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ฟอลลิเคิลหลังไข่ตก → หลั่งโปรเจสเตอโรน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896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Cleavage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207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คลีเวจ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4904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แบ่งเซลล์เร็ว ไม่เพิ่มขนาด → เซลล์เล็กลง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1945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2677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Morula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2578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มอรูลา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620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กลุ่มเซลล์อัดแน่น คล้ายผลน้อยหน่า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1945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22677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Blastocyst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2578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บลาสโตซิสต์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8620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มีช่องว่างของเหลว → พร้อมฝังตัว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1945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22677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Trophoblast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2578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โทรโฟบลาสต์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28620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907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ชั้นนอกของบลาสโตซิสต์ → เจริญเป็นรก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5661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HCG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ฮอร์โมนตั้งครรภ์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2336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กระตุ้น Corpus Luteum รักษาผนังมดลูก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54680" y="35661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46120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Ectopic Pregnancy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46120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ท้องนอกมดลูก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46120" y="42336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ตัวอ่อนฝังผิดที่ → อันตรายสูง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0760" y="356616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1E3A52"/>
          </a:solidFill>
          <a:ln w="12700">
            <a:solidFill>
              <a:srgbClr val="0F7B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72200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Menopause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72200" y="3950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CFE0"/>
                </a:solidFill>
              </a:rPr>
              <a:t>วัยทอง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4233672"/>
            <a:ext cx="2377440" cy="0"/>
          </a:xfrm>
          <a:prstGeom prst="line">
            <a:avLst/>
          </a:prstGeom>
          <a:noFill/>
          <a:ln w="12700">
            <a:solidFill>
              <a:srgbClr val="2E5A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2793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</a:rPr>
              <a:t>ฟอลลิเคิลหมด → หยุดประจำเดือนถาวร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ระบบสืบพันธุ์เพศหญิง</dc:title>
  <dc:subject>PptxGenJS Presentation</dc:subject>
  <dc:creator>PptxGenJS</dc:creator>
  <cp:lastModifiedBy>PptxGenJS</cp:lastModifiedBy>
  <cp:revision>1</cp:revision>
  <dcterms:created xsi:type="dcterms:W3CDTF">2026-06-24T03:23:29Z</dcterms:created>
  <dcterms:modified xsi:type="dcterms:W3CDTF">2026-06-24T03:23:29Z</dcterms:modified>
</cp:coreProperties>
</file>